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645920"/>
            <a:ext cx="10332720" cy="4114800"/>
          </a:xfrm>
          <a:prstGeom prst="rect">
            <a:avLst/>
          </a:prstGeom>
          <a:noFill/>
        </p:spPr>
        <p:txBody>
          <a:bodyPr wrap="square">
            <a:spAutoFit/>
          </a:bodyPr>
          <a:lstStyle/>
          <a:p>
            <a:pPr>
              <a:spcAft>
                <a:spcPts val="1400"/>
              </a:spcAft>
              <a:defRPr sz="1400" b="1">
                <a:solidFill>
                  <a:srgbClr val="27667A"/>
                </a:solidFill>
              </a:defRPr>
            </a:pPr>
            <a:r>
              <a:t>Business Intelligence · IIB423T-1 · Certamen 1</a:t>
            </a:r>
          </a:p>
          <a:p>
            <a:pPr>
              <a:spcAft>
                <a:spcPts val="800"/>
              </a:spcAft>
              <a:defRPr sz="3200" b="1">
                <a:solidFill>
                  <a:srgbClr val="16313B"/>
                </a:solidFill>
              </a:defRPr>
            </a:pPr>
            <a:r>
              <a:t>Respiratory Emergency Visits in Chile (2020–2024)</a:t>
            </a:r>
          </a:p>
          <a:p>
            <a:pPr>
              <a:spcAft>
                <a:spcPts val="2800"/>
              </a:spcAft>
              <a:defRPr sz="1600">
                <a:solidFill>
                  <a:srgbClr val="53636A"/>
                </a:solidFill>
              </a:defRPr>
            </a:pPr>
            <a:r>
              <a:t>Full Exploratory Data Analysis, Five Cs Quality Audit, and Capacity Planning for the Winter Campaign</a:t>
            </a:r>
          </a:p>
          <a:p>
            <a:pPr>
              <a:defRPr sz="1300" b="1">
                <a:solidFill>
                  <a:srgbClr val="16313B"/>
                </a:solidFill>
              </a:defRPr>
            </a:pPr>
            <a:r>
              <a:t>Team: Benjamín Pinto &amp; Sebastián Herrera  |  Group: 02</a:t>
            </a:r>
            <a:br/>
            <a:r>
              <a:t>Instructor: Tomás Fontecilla Correa  |  Date: September 29,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7667A"/>
                </a:solidFill>
              </a:defRPr>
            </a:pPr>
            <a:r>
              <a:t>BUSINESS INTELLIGENCE IIB423T-1 · CERTAMEN 1</a:t>
            </a:r>
          </a:p>
        </p:txBody>
      </p:sp>
      <p:sp>
        <p:nvSpPr>
          <p:cNvPr id="3" name="TextBox 2"/>
          <p:cNvSpPr txBox="1"/>
          <p:nvPr/>
        </p:nvSpPr>
        <p:spPr>
          <a:xfrm>
            <a:off x="731520" y="594360"/>
            <a:ext cx="10698480" cy="548640"/>
          </a:xfrm>
          <a:prstGeom prst="rect">
            <a:avLst/>
          </a:prstGeom>
          <a:noFill/>
        </p:spPr>
        <p:txBody>
          <a:bodyPr wrap="square">
            <a:spAutoFit/>
          </a:bodyPr>
          <a:lstStyle/>
          <a:p>
            <a:pPr>
              <a:defRPr sz="2000" b="1">
                <a:solidFill>
                  <a:srgbClr val="16313B"/>
                </a:solidFill>
              </a:defRPr>
            </a:pPr>
            <a:r>
              <a:t>Operational Context &amp; The Winter Campaign Decision</a:t>
            </a:r>
          </a:p>
        </p:txBody>
      </p:sp>
      <p:sp>
        <p:nvSpPr>
          <p:cNvPr id="4" name="TextBox 3"/>
          <p:cNvSpPr txBox="1"/>
          <p:nvPr/>
        </p:nvSpPr>
        <p:spPr>
          <a:xfrm>
            <a:off x="731520" y="1371600"/>
            <a:ext cx="10698480" cy="4937760"/>
          </a:xfrm>
          <a:prstGeom prst="rect">
            <a:avLst/>
          </a:prstGeom>
          <a:noFill/>
        </p:spPr>
        <p:txBody>
          <a:bodyPr wrap="square">
            <a:spAutoFit/>
          </a:bodyPr>
          <a:lstStyle/>
          <a:p/>
          <a:p>
            <a:pPr>
              <a:spcAft>
                <a:spcPts val="1200"/>
              </a:spcAft>
              <a:defRPr b="1" sz="1300">
                <a:solidFill>
                  <a:srgbClr val="16313B"/>
                </a:solidFill>
              </a:defRPr>
            </a:pPr>
            <a:r>
              <a:t>•  The Public Health Concern: </a:t>
            </a:r>
            <a:r>
              <a:rPr b="0">
                <a:solidFill>
                  <a:srgbClr val="53636A"/>
                </a:solidFill>
              </a:rPr>
              <a:t>Recurrent, severe seasonal surges in acute respiratory infections (RSV, Influenza A/B, Adenovirus, COVID-19) place intense pressure on the Chilean emergency network.</a:t>
            </a:r>
          </a:p>
          <a:p>
            <a:pPr>
              <a:spcAft>
                <a:spcPts val="1200"/>
              </a:spcAft>
              <a:defRPr b="1" sz="1300">
                <a:solidFill>
                  <a:srgbClr val="16313B"/>
                </a:solidFill>
              </a:defRPr>
            </a:pPr>
            <a:r>
              <a:t>•  Target Users: </a:t>
            </a:r>
            <a:r>
              <a:rPr b="0">
                <a:solidFill>
                  <a:srgbClr val="53636A"/>
                </a:solidFill>
              </a:rPr>
              <a:t>Directorate for Health Care Network Management (DIGERA), Health Service directors, and emergency leaders (SAPU, SAR, SUR, and Hospitals).</a:t>
            </a:r>
          </a:p>
          <a:p>
            <a:pPr>
              <a:spcAft>
                <a:spcPts val="1200"/>
              </a:spcAft>
              <a:defRPr b="1" sz="1300">
                <a:solidFill>
                  <a:srgbClr val="16313B"/>
                </a:solidFill>
              </a:defRPr>
            </a:pPr>
            <a:r>
              <a:t>•  The Decision to Inform: </a:t>
            </a:r>
            <a:r>
              <a:rPr b="0">
                <a:solidFill>
                  <a:srgbClr val="53636A"/>
                </a:solidFill>
              </a:rPr>
              <a:t>Timing the activation of Winter Campaign measures: scheduling clinical shifts (physicians, nurses, kinesitherapy), phased critical bed conversions, and primary care triage diversion before hospital emergency departments reach saturation.</a:t>
            </a:r>
          </a:p>
          <a:p>
            <a:pPr>
              <a:spcAft>
                <a:spcPts val="1200"/>
              </a:spcAft>
              <a:defRPr b="1" sz="1300">
                <a:solidFill>
                  <a:srgbClr val="16313B"/>
                </a:solidFill>
              </a:defRPr>
            </a:pPr>
            <a:r>
              <a:t>•  Core KPI &amp; Analytical Formula: </a:t>
            </a:r>
            <a:r>
              <a:rPr b="0">
                <a:solidFill>
                  <a:srgbClr val="53636A"/>
                </a:solidFill>
              </a:rPr>
              <a:t>Respiratory Share (%) = 100 × Total Respiratory Visits (IdCausa = 2) / Total Emergency Visits (IdCausa = 1).</a:t>
            </a:r>
          </a:p>
          <a:p>
            <a:pPr>
              <a:spcAft>
                <a:spcPts val="1200"/>
              </a:spcAft>
              <a:defRPr b="1" sz="1300">
                <a:solidFill>
                  <a:srgbClr val="16313B"/>
                </a:solidFill>
              </a:defRPr>
            </a:pPr>
            <a:r>
              <a:t>•  Critical Boundary: </a:t>
            </a:r>
            <a:r>
              <a:rPr b="0">
                <a:solidFill>
                  <a:srgbClr val="53636A"/>
                </a:solidFill>
              </a:rPr>
              <a:t>This measures recorded public-network consultation activity. It does NOT measure individual disease risk, clinical severity, bed occupancy, or population incidence.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7667A"/>
                </a:solidFill>
              </a:defRPr>
            </a:pPr>
            <a:r>
              <a:t>BUSINESS INTELLIGENCE IIB423T-1 · CERTAMEN 1</a:t>
            </a:r>
          </a:p>
        </p:txBody>
      </p:sp>
      <p:sp>
        <p:nvSpPr>
          <p:cNvPr id="3" name="TextBox 2"/>
          <p:cNvSpPr txBox="1"/>
          <p:nvPr/>
        </p:nvSpPr>
        <p:spPr>
          <a:xfrm>
            <a:off x="731520" y="594360"/>
            <a:ext cx="10698480" cy="548640"/>
          </a:xfrm>
          <a:prstGeom prst="rect">
            <a:avLst/>
          </a:prstGeom>
          <a:noFill/>
        </p:spPr>
        <p:txBody>
          <a:bodyPr wrap="square">
            <a:spAutoFit/>
          </a:bodyPr>
          <a:lstStyle/>
          <a:p>
            <a:pPr>
              <a:defRPr sz="2000" b="1">
                <a:solidFill>
                  <a:srgbClr val="16313B"/>
                </a:solidFill>
              </a:defRPr>
            </a:pPr>
            <a:r>
              <a:t>Selection from W1 and the C1 Correction</a:t>
            </a:r>
          </a:p>
        </p:txBody>
      </p:sp>
      <p:sp>
        <p:nvSpPr>
          <p:cNvPr id="4" name="TextBox 3"/>
          <p:cNvSpPr txBox="1"/>
          <p:nvPr/>
        </p:nvSpPr>
        <p:spPr>
          <a:xfrm>
            <a:off x="731520" y="1371600"/>
            <a:ext cx="10698480" cy="4937760"/>
          </a:xfrm>
          <a:prstGeom prst="rect">
            <a:avLst/>
          </a:prstGeom>
          <a:noFill/>
        </p:spPr>
        <p:txBody>
          <a:bodyPr wrap="square">
            <a:spAutoFit/>
          </a:bodyPr>
          <a:lstStyle/>
          <a:p/>
          <a:p>
            <a:pPr>
              <a:spcAft>
                <a:spcPts val="1200"/>
              </a:spcAft>
              <a:defRPr b="1" sz="1300">
                <a:solidFill>
                  <a:srgbClr val="16313B"/>
                </a:solidFill>
              </a:defRPr>
            </a:pPr>
            <a:r>
              <a:t>•  Why Candidate A (Respiratory) was Selected: </a:t>
            </a:r>
            <a:r>
              <a:rPr b="0">
                <a:solidFill>
                  <a:srgbClr val="53636A"/>
                </a:solidFill>
              </a:rPr>
              <a:t>Offers a continuous, high-frequency time series (262 dated weeks across 2020–2024) with complete reporting, directly supporting seasonal monitoring.</a:t>
            </a:r>
          </a:p>
          <a:p>
            <a:pPr>
              <a:spcAft>
                <a:spcPts val="1200"/>
              </a:spcAft>
              <a:defRPr b="1" sz="1300">
                <a:solidFill>
                  <a:srgbClr val="16313B"/>
                </a:solidFill>
              </a:defRPr>
            </a:pPr>
            <a:r>
              <a:t>•  Why Candidate B (REM-P2 Child Nutrition) was Deselected: </a:t>
            </a:r>
            <a:r>
              <a:rPr b="0">
                <a:solidFill>
                  <a:srgbClr val="53636A"/>
                </a:solidFill>
              </a:rPr>
              <a:t>Audit uncovered severe reporting collapse in June 2020 (only 83 facilities reported due to pandemic lockdowns vs &gt;1,950 normally); only 10 reporting points in 5 years; &gt;59% of age/sex breakdown cells missing; code changes in 2023.</a:t>
            </a:r>
          </a:p>
          <a:p>
            <a:pPr>
              <a:spcAft>
                <a:spcPts val="1200"/>
              </a:spcAft>
              <a:defRPr b="1" sz="1300">
                <a:solidFill>
                  <a:srgbClr val="16313B"/>
                </a:solidFill>
              </a:defRPr>
            </a:pPr>
            <a:r>
              <a:t>•  The W1-to-C1 Reproducibility Correction: </a:t>
            </a:r>
            <a:r>
              <a:rPr b="0">
                <a:solidFill>
                  <a:srgbClr val="53636A"/>
                </a:solidFill>
              </a:rPr>
              <a:t>While W1 reported 5-year aggregates, its submitted reduced extract included only sample peak weeks in 2023–2024. For C1, our teammate's internal review corrected this by expanding the packaged extract to EVERY date across all 5 years (2020–2024).</a:t>
            </a:r>
          </a:p>
          <a:p>
            <a:pPr>
              <a:spcAft>
                <a:spcPts val="1200"/>
              </a:spcAft>
              <a:defRPr b="1" sz="1300">
                <a:solidFill>
                  <a:srgbClr val="16313B"/>
                </a:solidFill>
              </a:defRPr>
            </a:pPr>
            <a:r>
              <a:t>•  Audit Scope: </a:t>
            </a:r>
            <a:r>
              <a:rPr b="0">
                <a:solidFill>
                  <a:srgbClr val="53636A"/>
                </a:solidFill>
              </a:rPr>
              <a:t>The uncleaned extract contains 2,169,824 rows (~85x larger than W1's extract) while maintaining an efficient 19 MB compressed archive size.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7667A"/>
                </a:solidFill>
              </a:defRPr>
            </a:pPr>
            <a:r>
              <a:t>BUSINESS INTELLIGENCE IIB423T-1 · CERTAMEN 1</a:t>
            </a:r>
          </a:p>
        </p:txBody>
      </p:sp>
      <p:sp>
        <p:nvSpPr>
          <p:cNvPr id="3" name="TextBox 2"/>
          <p:cNvSpPr txBox="1"/>
          <p:nvPr/>
        </p:nvSpPr>
        <p:spPr>
          <a:xfrm>
            <a:off x="731520" y="594360"/>
            <a:ext cx="10698480" cy="548640"/>
          </a:xfrm>
          <a:prstGeom prst="rect">
            <a:avLst/>
          </a:prstGeom>
          <a:noFill/>
        </p:spPr>
        <p:txBody>
          <a:bodyPr wrap="square">
            <a:spAutoFit/>
          </a:bodyPr>
          <a:lstStyle/>
          <a:p>
            <a:pPr>
              <a:defRPr sz="2000" b="1">
                <a:solidFill>
                  <a:srgbClr val="16313B"/>
                </a:solidFill>
              </a:defRPr>
            </a:pPr>
            <a:r>
              <a:t>Application of the Seven Steps (Class 03 Framework)</a:t>
            </a:r>
          </a:p>
        </p:txBody>
      </p:sp>
      <p:sp>
        <p:nvSpPr>
          <p:cNvPr id="4" name="TextBox 3"/>
          <p:cNvSpPr txBox="1"/>
          <p:nvPr/>
        </p:nvSpPr>
        <p:spPr>
          <a:xfrm>
            <a:off x="731520" y="1280160"/>
            <a:ext cx="10698480" cy="5120640"/>
          </a:xfrm>
          <a:prstGeom prst="rect">
            <a:avLst/>
          </a:prstGeom>
          <a:noFill/>
        </p:spPr>
        <p:txBody>
          <a:bodyPr wrap="square">
            <a:spAutoFit/>
          </a:bodyPr>
          <a:lstStyle/>
          <a:p/>
          <a:p>
            <a:pPr>
              <a:spcAft>
                <a:spcPts val="600"/>
              </a:spcAft>
              <a:defRPr b="1" sz="1200">
                <a:solidFill>
                  <a:srgbClr val="16313B"/>
                </a:solidFill>
              </a:defRPr>
            </a:pPr>
            <a:r>
              <a:t>•  1. Decision: </a:t>
            </a:r>
            <a:r>
              <a:rPr b="0">
                <a:solidFill>
                  <a:srgbClr val="53636A"/>
                </a:solidFill>
              </a:rPr>
              <a:t>Proposed winter planners review weekly demand trajectory to determine when to activate phased staffing and bed contingency plans.</a:t>
            </a:r>
          </a:p>
          <a:p>
            <a:pPr>
              <a:spcAft>
                <a:spcPts val="600"/>
              </a:spcAft>
              <a:defRPr b="1" sz="1200">
                <a:solidFill>
                  <a:srgbClr val="16313B"/>
                </a:solidFill>
              </a:defRPr>
            </a:pPr>
            <a:r>
              <a:t>•  2. Success Criteria: </a:t>
            </a:r>
            <a:r>
              <a:rPr b="0">
                <a:solidFill>
                  <a:srgbClr val="53636A"/>
                </a:solidFill>
              </a:rPr>
              <a:t>Construct a reproducible 2020–2024 weekly baseline with audited coverage, stable codes, and verified care-setting coupling.</a:t>
            </a:r>
          </a:p>
          <a:p>
            <a:pPr>
              <a:spcAft>
                <a:spcPts val="600"/>
              </a:spcAft>
              <a:defRPr b="1" sz="1200">
                <a:solidFill>
                  <a:srgbClr val="16313B"/>
                </a:solidFill>
              </a:defRPr>
            </a:pPr>
            <a:r>
              <a:t>•  3. Business Question: </a:t>
            </a:r>
            <a:r>
              <a:rPr b="0">
                <a:solidFill>
                  <a:srgbClr val="53636A"/>
                </a:solidFill>
              </a:rPr>
              <a:t>How did the weekly volume and share of respiratory emergency visits vary in 2020–2024 across care settings and age bands?</a:t>
            </a:r>
          </a:p>
          <a:p>
            <a:pPr>
              <a:spcAft>
                <a:spcPts val="600"/>
              </a:spcAft>
              <a:defRPr b="1" sz="1200">
                <a:solidFill>
                  <a:srgbClr val="16313B"/>
                </a:solidFill>
              </a:defRPr>
            </a:pPr>
            <a:r>
              <a:t>•  4. Care Process: </a:t>
            </a:r>
            <a:r>
              <a:rPr b="0">
                <a:solidFill>
                  <a:srgbClr val="53636A"/>
                </a:solidFill>
              </a:rPr>
              <a:t>Daily emergency consultation records (DAU/SADU) logged at health facilities and transmitted to DEIS.</a:t>
            </a:r>
          </a:p>
          <a:p>
            <a:pPr>
              <a:spcAft>
                <a:spcPts val="600"/>
              </a:spcAft>
              <a:defRPr b="1" sz="1200">
                <a:solidFill>
                  <a:srgbClr val="16313B"/>
                </a:solidFill>
              </a:defRPr>
            </a:pPr>
            <a:r>
              <a:t>•  5. Entities &amp; Events: </a:t>
            </a:r>
            <a:r>
              <a:rPr b="0">
                <a:solidFill>
                  <a:srgbClr val="53636A"/>
                </a:solidFill>
              </a:rPr>
              <a:t>Entity: Health facility. Event: Recorded emergency visit. Observation unit: Aggregate facility × date × cause count (NOT unique patients).</a:t>
            </a:r>
          </a:p>
          <a:p>
            <a:pPr>
              <a:spcAft>
                <a:spcPts val="600"/>
              </a:spcAft>
              <a:defRPr b="1" sz="1200">
                <a:solidFill>
                  <a:srgbClr val="16313B"/>
                </a:solidFill>
              </a:defRPr>
            </a:pPr>
            <a:r>
              <a:t>•  6. Representation: </a:t>
            </a:r>
            <a:r>
              <a:rPr b="0">
                <a:solidFill>
                  <a:srgbClr val="53636A"/>
                </a:solidFill>
              </a:rPr>
              <a:t>Candidate key: (source_year, IdEstablecimiento, fecha, IdCausa). Clean case derives Sunday week starts from parsed dates.</a:t>
            </a:r>
          </a:p>
          <a:p>
            <a:pPr>
              <a:spcAft>
                <a:spcPts val="600"/>
              </a:spcAft>
              <a:defRPr b="1" sz="1200">
                <a:solidFill>
                  <a:srgbClr val="16313B"/>
                </a:solidFill>
              </a:defRPr>
            </a:pPr>
            <a:r>
              <a:t>•  7. Measurement: </a:t>
            </a:r>
            <a:r>
              <a:rPr b="0">
                <a:solidFill>
                  <a:srgbClr val="53636A"/>
                </a:solidFill>
              </a:rPr>
              <a:t>Respiratory Visits = Total(IdCausa=2); Respiratory Share (%) = Total(IdCausa=2) / Total(IdCausa=1) × 100 within identical periods/units.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7667A"/>
                </a:solidFill>
              </a:defRPr>
            </a:pPr>
            <a:r>
              <a:t>BUSINESS INTELLIGENCE IIB423T-1 · CERTAMEN 1</a:t>
            </a:r>
          </a:p>
        </p:txBody>
      </p:sp>
      <p:sp>
        <p:nvSpPr>
          <p:cNvPr id="3" name="TextBox 2"/>
          <p:cNvSpPr txBox="1"/>
          <p:nvPr/>
        </p:nvSpPr>
        <p:spPr>
          <a:xfrm>
            <a:off x="731520" y="594360"/>
            <a:ext cx="10698480" cy="548640"/>
          </a:xfrm>
          <a:prstGeom prst="rect">
            <a:avLst/>
          </a:prstGeom>
          <a:noFill/>
        </p:spPr>
        <p:txBody>
          <a:bodyPr wrap="square">
            <a:spAutoFit/>
          </a:bodyPr>
          <a:lstStyle/>
          <a:p>
            <a:pPr>
              <a:defRPr sz="2000" b="1">
                <a:solidFill>
                  <a:srgbClr val="16313B"/>
                </a:solidFill>
              </a:defRPr>
            </a:pPr>
            <a:r>
              <a:t>Data Profiling &amp; The Five Cs Quality Audit</a:t>
            </a:r>
          </a:p>
        </p:txBody>
      </p:sp>
      <p:sp>
        <p:nvSpPr>
          <p:cNvPr id="4" name="TextBox 3"/>
          <p:cNvSpPr txBox="1"/>
          <p:nvPr/>
        </p:nvSpPr>
        <p:spPr>
          <a:xfrm>
            <a:off x="731520" y="1280160"/>
            <a:ext cx="10698480" cy="5120640"/>
          </a:xfrm>
          <a:prstGeom prst="rect">
            <a:avLst/>
          </a:prstGeom>
          <a:noFill/>
        </p:spPr>
        <p:txBody>
          <a:bodyPr wrap="square">
            <a:spAutoFit/>
          </a:bodyPr>
          <a:lstStyle/>
          <a:p/>
          <a:p>
            <a:pPr>
              <a:spcAft>
                <a:spcPts val="1000"/>
              </a:spcAft>
              <a:defRPr b="1" sz="1250">
                <a:solidFill>
                  <a:srgbClr val="16313B"/>
                </a:solidFill>
              </a:defRPr>
            </a:pPr>
            <a:r>
              <a:t>•  Clean: </a:t>
            </a:r>
            <a:r>
              <a:rPr b="0">
                <a:solidFill>
                  <a:srgbClr val="53636A"/>
                </a:solidFill>
              </a:rPr>
              <a:t>Checked 2,169,824 rows: zero missing key/measure cells; zero negative values; age sums match Total 100%. Two identical duplicate rows in 2023 removed only from derived tables (-13 all visits, -0 respiratory). Valid zero-count rows retained.</a:t>
            </a:r>
          </a:p>
          <a:p>
            <a:pPr>
              <a:spcAft>
                <a:spcPts val="1000"/>
              </a:spcAft>
              <a:defRPr b="1" sz="1250">
                <a:solidFill>
                  <a:srgbClr val="16313B"/>
                </a:solidFill>
              </a:defRPr>
            </a:pPr>
            <a:r>
              <a:t>•  Consistent: </a:t>
            </a:r>
            <a:r>
              <a:rPr b="0">
                <a:solidFill>
                  <a:srgbClr val="53636A"/>
                </a:solidFill>
              </a:rPr>
              <a:t>IdCausa 1 and 2 maintain stable definitions across 2020–2024. Parsing dates into Sunday week starts resolves calendar boundary collisions where the same (year, semana) label mapped to two disjoint weeks.</a:t>
            </a:r>
          </a:p>
          <a:p>
            <a:pPr>
              <a:spcAft>
                <a:spcPts val="1000"/>
              </a:spcAft>
              <a:defRPr b="1" sz="1250">
                <a:solidFill>
                  <a:srgbClr val="16313B"/>
                </a:solidFill>
              </a:defRPr>
            </a:pPr>
            <a:r>
              <a:t>•  Conformed: </a:t>
            </a:r>
            <a:r>
              <a:rPr b="0">
                <a:solidFill>
                  <a:srgbClr val="53636A"/>
                </a:solidFill>
              </a:rPr>
              <a:t>Harmonized schemas across annual DEIS archives. No external geographic join is claimed: 2020–2022 lack direct comuna/region fields, and unvalidated joins risk creating duplicate or unmatched rows.</a:t>
            </a:r>
          </a:p>
          <a:p>
            <a:pPr>
              <a:spcAft>
                <a:spcPts val="1000"/>
              </a:spcAft>
              <a:defRPr b="1" sz="1250">
                <a:solidFill>
                  <a:srgbClr val="16313B"/>
                </a:solidFill>
              </a:defRPr>
            </a:pPr>
            <a:r>
              <a:t>•  Current: </a:t>
            </a:r>
            <a:r>
              <a:rPr b="0">
                <a:solidFill>
                  <a:srgbClr val="53636A"/>
                </a:solidFill>
              </a:rPr>
              <a:t>The 2020–2024 series is appropriate for historical baseline analysis. It cannot directly guide live 2026 shift decisions without an automated operational feed.</a:t>
            </a:r>
          </a:p>
          <a:p>
            <a:pPr>
              <a:spcAft>
                <a:spcPts val="1000"/>
              </a:spcAft>
              <a:defRPr b="1" sz="1250">
                <a:solidFill>
                  <a:srgbClr val="16313B"/>
                </a:solidFill>
              </a:defRPr>
            </a:pPr>
            <a:r>
              <a:t>•  Comprehensive: </a:t>
            </a:r>
            <a:r>
              <a:rPr b="0">
                <a:solidFill>
                  <a:srgbClr val="53636A"/>
                </a:solidFill>
              </a:rPr>
              <a:t>Covers the entire reporting public emergency network (&gt;600 facilities annually). Does not cover private clinic care or self-treated community cases.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7667A"/>
                </a:solidFill>
              </a:defRPr>
            </a:pPr>
            <a:r>
              <a:t>BUSINESS INTELLIGENCE IIB423T-1 · CERTAMEN 1</a:t>
            </a:r>
          </a:p>
        </p:txBody>
      </p:sp>
      <p:sp>
        <p:nvSpPr>
          <p:cNvPr id="3" name="TextBox 2"/>
          <p:cNvSpPr txBox="1"/>
          <p:nvPr/>
        </p:nvSpPr>
        <p:spPr>
          <a:xfrm>
            <a:off x="731520" y="594360"/>
            <a:ext cx="10698480" cy="548640"/>
          </a:xfrm>
          <a:prstGeom prst="rect">
            <a:avLst/>
          </a:prstGeom>
          <a:noFill/>
        </p:spPr>
        <p:txBody>
          <a:bodyPr wrap="square">
            <a:spAutoFit/>
          </a:bodyPr>
          <a:lstStyle/>
          <a:p>
            <a:pPr>
              <a:defRPr sz="2000" b="1">
                <a:solidFill>
                  <a:srgbClr val="16313B"/>
                </a:solidFill>
              </a:defRPr>
            </a:pPr>
            <a:r>
              <a:t>Full EDA: Histograms &amp; Kernel Density Estimation (KDE)</a:t>
            </a:r>
          </a:p>
        </p:txBody>
      </p:sp>
      <p:pic>
        <p:nvPicPr>
          <p:cNvPr id="4" name="Picture 3" descr="eda_distributions_kde.png"/>
          <p:cNvPicPr>
            <a:picLocks noChangeAspect="1"/>
          </p:cNvPicPr>
          <p:nvPr/>
        </p:nvPicPr>
        <p:blipFill>
          <a:blip r:embed="rId2"/>
          <a:stretch>
            <a:fillRect/>
          </a:stretch>
        </p:blipFill>
        <p:spPr>
          <a:xfrm>
            <a:off x="731520" y="1371600"/>
            <a:ext cx="6583680" cy="2460058"/>
          </a:xfrm>
          <a:prstGeom prst="rect">
            <a:avLst/>
          </a:prstGeom>
        </p:spPr>
      </p:pic>
      <p:sp>
        <p:nvSpPr>
          <p:cNvPr id="5" name="TextBox 4"/>
          <p:cNvSpPr txBox="1"/>
          <p:nvPr/>
        </p:nvSpPr>
        <p:spPr>
          <a:xfrm>
            <a:off x="7498079" y="1371600"/>
            <a:ext cx="3931920" cy="4937760"/>
          </a:xfrm>
          <a:prstGeom prst="rect">
            <a:avLst/>
          </a:prstGeom>
          <a:noFill/>
        </p:spPr>
        <p:txBody>
          <a:bodyPr wrap="square">
            <a:spAutoFit/>
          </a:bodyPr>
          <a:lstStyle/>
          <a:p>
            <a:pPr>
              <a:spcAft>
                <a:spcPts val="1000"/>
              </a:spcAft>
              <a:defRPr b="1" sz="1400">
                <a:solidFill>
                  <a:srgbClr val="16313B"/>
                </a:solidFill>
              </a:defRPr>
            </a:pPr>
            <a:r>
              <a:t>Key Statistical Findings:</a:t>
            </a:r>
          </a:p>
          <a:p>
            <a:pPr>
              <a:spcAft>
                <a:spcPts val="800"/>
              </a:spcAft>
              <a:defRPr b="1" sz="1100">
                <a:solidFill>
                  <a:srgbClr val="16313B"/>
                </a:solidFill>
              </a:defRPr>
            </a:pPr>
            <a:r>
              <a:t>• Parametric Non-Normality: </a:t>
            </a:r>
            <a:r>
              <a:rPr b="0">
                <a:solidFill>
                  <a:srgbClr val="53636A"/>
                </a:solidFill>
              </a:rPr>
              <a:t>Weekly volume and share distributions exhibit high positive skewness and heavy right tails during epidemic surges; normality assumptions fail.</a:t>
            </a:r>
          </a:p>
          <a:p>
            <a:pPr>
              <a:spcAft>
                <a:spcPts val="800"/>
              </a:spcAft>
              <a:defRPr b="1" sz="1100">
                <a:solidFill>
                  <a:srgbClr val="16313B"/>
                </a:solidFill>
              </a:defRPr>
            </a:pPr>
            <a:r>
              <a:t>• Pandemic Suppression (2020–2021): </a:t>
            </a:r>
            <a:r>
              <a:rPr b="0">
                <a:solidFill>
                  <a:srgbClr val="53636A"/>
                </a:solidFill>
              </a:rPr>
              <a:t>Unimodal, tightly bounded distribution centered at ~10% share and &lt;50k weekly visits due to school closures and mask mandates.</a:t>
            </a:r>
          </a:p>
          <a:p>
            <a:pPr>
              <a:spcAft>
                <a:spcPts val="800"/>
              </a:spcAft>
              <a:defRPr b="1" sz="1100">
                <a:solidFill>
                  <a:srgbClr val="16313B"/>
                </a:solidFill>
              </a:defRPr>
            </a:pPr>
            <a:r>
              <a:t>• Post-Pandemic Rebound (2022–2024): </a:t>
            </a:r>
            <a:r>
              <a:rPr b="0">
                <a:solidFill>
                  <a:srgbClr val="53636A"/>
                </a:solidFill>
              </a:rPr>
              <a:t>Multimodal distribution with broad dispersion reaching 45.56% share and 203,353 visits/week.</a:t>
            </a:r>
          </a:p>
          <a:p>
            <a:pPr>
              <a:spcAft>
                <a:spcPts val="800"/>
              </a:spcAft>
              <a:defRPr b="1" sz="1100">
                <a:solidFill>
                  <a:srgbClr val="16313B"/>
                </a:solidFill>
              </a:defRPr>
            </a:pPr>
            <a:r>
              <a:t>• Operational Implication: </a:t>
            </a:r>
            <a:r>
              <a:rPr b="0">
                <a:solidFill>
                  <a:srgbClr val="53636A"/>
                </a:solidFill>
              </a:rPr>
              <a:t>Planning models must account for regime shifts; assuming a single Gaussian distribution severely underestimates peak surge risk.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7667A"/>
                </a:solidFill>
              </a:defRPr>
            </a:pPr>
            <a:r>
              <a:t>BUSINESS INTELLIGENCE IIB423T-1 · CERTAMEN 1</a:t>
            </a:r>
          </a:p>
        </p:txBody>
      </p:sp>
      <p:sp>
        <p:nvSpPr>
          <p:cNvPr id="3" name="TextBox 2"/>
          <p:cNvSpPr txBox="1"/>
          <p:nvPr/>
        </p:nvSpPr>
        <p:spPr>
          <a:xfrm>
            <a:off x="731520" y="594360"/>
            <a:ext cx="10698480" cy="548640"/>
          </a:xfrm>
          <a:prstGeom prst="rect">
            <a:avLst/>
          </a:prstGeom>
          <a:noFill/>
        </p:spPr>
        <p:txBody>
          <a:bodyPr wrap="square">
            <a:spAutoFit/>
          </a:bodyPr>
          <a:lstStyle/>
          <a:p>
            <a:pPr>
              <a:defRPr sz="2000" b="1">
                <a:solidFill>
                  <a:srgbClr val="16313B"/>
                </a:solidFill>
              </a:defRPr>
            </a:pPr>
            <a:r>
              <a:t>Full EDA: Seasonal Dynamics &amp; Autumn Peaks</a:t>
            </a:r>
          </a:p>
        </p:txBody>
      </p:sp>
      <p:pic>
        <p:nvPicPr>
          <p:cNvPr id="4" name="Picture 3" descr="weekly_volume_and_share.png"/>
          <p:cNvPicPr>
            <a:picLocks noChangeAspect="1"/>
          </p:cNvPicPr>
          <p:nvPr/>
        </p:nvPicPr>
        <p:blipFill>
          <a:blip r:embed="rId2"/>
          <a:stretch>
            <a:fillRect/>
          </a:stretch>
        </p:blipFill>
        <p:spPr>
          <a:xfrm>
            <a:off x="731520" y="1371600"/>
            <a:ext cx="6583680" cy="4041247"/>
          </a:xfrm>
          <a:prstGeom prst="rect">
            <a:avLst/>
          </a:prstGeom>
        </p:spPr>
      </p:pic>
      <p:sp>
        <p:nvSpPr>
          <p:cNvPr id="5" name="TextBox 4"/>
          <p:cNvSpPr txBox="1"/>
          <p:nvPr/>
        </p:nvSpPr>
        <p:spPr>
          <a:xfrm>
            <a:off x="7498079" y="1371600"/>
            <a:ext cx="3931920" cy="4937760"/>
          </a:xfrm>
          <a:prstGeom prst="rect">
            <a:avLst/>
          </a:prstGeom>
          <a:noFill/>
        </p:spPr>
        <p:txBody>
          <a:bodyPr wrap="square">
            <a:spAutoFit/>
          </a:bodyPr>
          <a:lstStyle/>
          <a:p>
            <a:pPr>
              <a:spcAft>
                <a:spcPts val="1000"/>
              </a:spcAft>
              <a:defRPr b="1" sz="1400">
                <a:solidFill>
                  <a:srgbClr val="16313B"/>
                </a:solidFill>
              </a:defRPr>
            </a:pPr>
            <a:r>
              <a:t>Historical Peak Evidence:</a:t>
            </a:r>
          </a:p>
          <a:p>
            <a:pPr>
              <a:spcAft>
                <a:spcPts val="800"/>
              </a:spcAft>
              <a:defRPr b="1" sz="1100">
                <a:solidFill>
                  <a:srgbClr val="16313B"/>
                </a:solidFill>
              </a:defRPr>
            </a:pPr>
            <a:r>
              <a:t>• 260 Complete Weeks Analyzed: </a:t>
            </a:r>
            <a:r>
              <a:rPr b="0">
                <a:solidFill>
                  <a:srgbClr val="53636A"/>
                </a:solidFill>
              </a:rPr>
              <a:t>Edge weeks (4 and 3 days) excluded for strict cross-year peak comparability.</a:t>
            </a:r>
          </a:p>
          <a:p>
            <a:pPr>
              <a:spcAft>
                <a:spcPts val="800"/>
              </a:spcAft>
              <a:defRPr b="1" sz="1100">
                <a:solidFill>
                  <a:srgbClr val="16313B"/>
                </a:solidFill>
              </a:defRPr>
            </a:pPr>
            <a:r>
              <a:t>• 2023 Peak: </a:t>
            </a:r>
            <a:r>
              <a:rPr b="0">
                <a:solidFill>
                  <a:srgbClr val="53636A"/>
                </a:solidFill>
              </a:rPr>
              <a:t>Week of 14–20 May: 189,297 respiratory visits (41.66% share).</a:t>
            </a:r>
          </a:p>
          <a:p>
            <a:pPr>
              <a:spcAft>
                <a:spcPts val="800"/>
              </a:spcAft>
              <a:defRPr b="1" sz="1100">
                <a:solidFill>
                  <a:srgbClr val="16313B"/>
                </a:solidFill>
              </a:defRPr>
            </a:pPr>
            <a:r>
              <a:t>• 2024 Peak: </a:t>
            </a:r>
            <a:r>
              <a:rPr b="0">
                <a:solidFill>
                  <a:srgbClr val="53636A"/>
                </a:solidFill>
              </a:rPr>
              <a:t>Week of 12–18 May: 203,353 respiratory visits (45.56% share).</a:t>
            </a:r>
          </a:p>
          <a:p>
            <a:pPr>
              <a:spcAft>
                <a:spcPts val="800"/>
              </a:spcAft>
              <a:defRPr b="1" sz="1100">
                <a:solidFill>
                  <a:srgbClr val="16313B"/>
                </a:solidFill>
              </a:defRPr>
            </a:pPr>
            <a:r>
              <a:t>• Timing Corroboration: </a:t>
            </a:r>
            <a:r>
              <a:rPr b="0">
                <a:solidFill>
                  <a:srgbClr val="53636A"/>
                </a:solidFill>
              </a:rPr>
              <a:t>MINSAL's 24 May 2024 official campaign report recorded 45.4% week-20 share, broadly corroborating this archive's 45.56% timing.</a:t>
            </a:r>
          </a:p>
          <a:p>
            <a:pPr>
              <a:spcAft>
                <a:spcPts val="800"/>
              </a:spcAft>
              <a:defRPr b="1" sz="1100">
                <a:solidFill>
                  <a:srgbClr val="16313B"/>
                </a:solidFill>
              </a:defRPr>
            </a:pPr>
            <a:r>
              <a:t>• Key Takeaway for Planners: </a:t>
            </a:r>
            <a:r>
              <a:rPr b="0">
                <a:solidFill>
                  <a:srgbClr val="53636A"/>
                </a:solidFill>
              </a:rPr>
              <a:t>Peaks in recent years occurred in mid-May (late autumn), NOT in July/August (mid-winter). Preparedness reviews must begin early in April.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7667A"/>
                </a:solidFill>
              </a:defRPr>
            </a:pPr>
            <a:r>
              <a:t>BUSINESS INTELLIGENCE IIB423T-1 · CERTAMEN 1</a:t>
            </a:r>
          </a:p>
        </p:txBody>
      </p:sp>
      <p:sp>
        <p:nvSpPr>
          <p:cNvPr id="3" name="TextBox 2"/>
          <p:cNvSpPr txBox="1"/>
          <p:nvPr/>
        </p:nvSpPr>
        <p:spPr>
          <a:xfrm>
            <a:off x="731520" y="594360"/>
            <a:ext cx="10698480" cy="548640"/>
          </a:xfrm>
          <a:prstGeom prst="rect">
            <a:avLst/>
          </a:prstGeom>
          <a:noFill/>
        </p:spPr>
        <p:txBody>
          <a:bodyPr wrap="square">
            <a:spAutoFit/>
          </a:bodyPr>
          <a:lstStyle/>
          <a:p>
            <a:pPr>
              <a:defRPr sz="2000" b="1">
                <a:solidFill>
                  <a:srgbClr val="16313B"/>
                </a:solidFill>
              </a:defRPr>
            </a:pPr>
            <a:r>
              <a:t>Statistical Correlation: Pearson (Linear) vs. Spearman (Rank)</a:t>
            </a:r>
          </a:p>
        </p:txBody>
      </p:sp>
      <p:pic>
        <p:nvPicPr>
          <p:cNvPr id="4" name="Picture 3" descr="eda_correlation_analysis.png"/>
          <p:cNvPicPr>
            <a:picLocks noChangeAspect="1"/>
          </p:cNvPicPr>
          <p:nvPr/>
        </p:nvPicPr>
        <p:blipFill>
          <a:blip r:embed="rId2"/>
          <a:stretch>
            <a:fillRect/>
          </a:stretch>
        </p:blipFill>
        <p:spPr>
          <a:xfrm>
            <a:off x="731520" y="1371600"/>
            <a:ext cx="6858000" cy="2006846"/>
          </a:xfrm>
          <a:prstGeom prst="rect">
            <a:avLst/>
          </a:prstGeom>
        </p:spPr>
      </p:pic>
      <p:sp>
        <p:nvSpPr>
          <p:cNvPr id="5" name="TextBox 4"/>
          <p:cNvSpPr txBox="1"/>
          <p:nvPr/>
        </p:nvSpPr>
        <p:spPr>
          <a:xfrm>
            <a:off x="7772400" y="1371600"/>
            <a:ext cx="3657600" cy="4937760"/>
          </a:xfrm>
          <a:prstGeom prst="rect">
            <a:avLst/>
          </a:prstGeom>
          <a:noFill/>
        </p:spPr>
        <p:txBody>
          <a:bodyPr wrap="square">
            <a:spAutoFit/>
          </a:bodyPr>
          <a:lstStyle/>
          <a:p>
            <a:pPr>
              <a:spcAft>
                <a:spcPts val="1000"/>
              </a:spcAft>
              <a:defRPr b="1" sz="1400">
                <a:solidFill>
                  <a:srgbClr val="16313B"/>
                </a:solidFill>
              </a:defRPr>
            </a:pPr>
            <a:r>
              <a:t>The Statistician's View:</a:t>
            </a:r>
          </a:p>
          <a:p>
            <a:pPr>
              <a:spcAft>
                <a:spcPts val="800"/>
              </a:spcAft>
              <a:defRPr b="1" sz="1050">
                <a:solidFill>
                  <a:srgbClr val="16313B"/>
                </a:solidFill>
              </a:defRPr>
            </a:pPr>
            <a:r>
              <a:t>• Linear vs Monotonic: </a:t>
            </a:r>
            <a:r>
              <a:rPr b="0">
                <a:solidFill>
                  <a:srgbClr val="53636A"/>
                </a:solidFill>
              </a:rPr>
              <a:t>Pearson evaluates linear bivariate normality; Spearman evaluates monotonic rank ordering, immune to non-linear surges.</a:t>
            </a:r>
          </a:p>
          <a:p>
            <a:pPr>
              <a:spcAft>
                <a:spcPts val="800"/>
              </a:spcAft>
              <a:defRPr b="1" sz="1050">
                <a:solidFill>
                  <a:srgbClr val="16313B"/>
                </a:solidFill>
              </a:defRPr>
            </a:pPr>
            <a:r>
              <a:t>• Age Co-Movement: </a:t>
            </a:r>
            <a:r>
              <a:rPr b="0">
                <a:solidFill>
                  <a:srgbClr val="53636A"/>
                </a:solidFill>
              </a:rPr>
              <a:t>Spearman is systematically higher than Pearson across all age groups (+0.012 to +0.074). Between &lt;1 and 65+, correlation rises from r = 0.775 (Pearson) to rho = 0.835 (Spearman).</a:t>
            </a:r>
          </a:p>
          <a:p>
            <a:pPr>
              <a:spcAft>
                <a:spcPts val="800"/>
              </a:spcAft>
              <a:defRPr b="1" sz="1050">
                <a:solidFill>
                  <a:srgbClr val="16313B"/>
                </a:solidFill>
              </a:defRPr>
            </a:pPr>
            <a:r>
              <a:t>• Why? Epidemic Dynamics: </a:t>
            </a:r>
            <a:r>
              <a:rPr b="0">
                <a:solidFill>
                  <a:srgbClr val="53636A"/>
                </a:solidFill>
              </a:rPr>
              <a:t>Different virus onset slopes (steep early RSV surge vs delayed influenza wave) depress linear Pearson, but rank severity across weeks is strongly preserved.</a:t>
            </a:r>
          </a:p>
          <a:p>
            <a:pPr>
              <a:spcAft>
                <a:spcPts val="800"/>
              </a:spcAft>
              <a:defRPr b="1" sz="1050">
                <a:solidFill>
                  <a:srgbClr val="16313B"/>
                </a:solidFill>
              </a:defRPr>
            </a:pPr>
            <a:r>
              <a:t>• Network Coupling: </a:t>
            </a:r>
            <a:r>
              <a:rPr b="0">
                <a:solidFill>
                  <a:srgbClr val="53636A"/>
                </a:solidFill>
              </a:rPr>
              <a:t>Primary Care (SAPU/SAR) vs Hospital demand has Pearson r = 0.9835 and Spearman rho = 0.9848. Triage and hospital pressure move in lockstep.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7667A"/>
                </a:solidFill>
              </a:defRPr>
            </a:pPr>
            <a:r>
              <a:t>BUSINESS INTELLIGENCE IIB423T-1 · CERTAMEN 1</a:t>
            </a:r>
          </a:p>
        </p:txBody>
      </p:sp>
      <p:sp>
        <p:nvSpPr>
          <p:cNvPr id="3" name="TextBox 2"/>
          <p:cNvSpPr txBox="1"/>
          <p:nvPr/>
        </p:nvSpPr>
        <p:spPr>
          <a:xfrm>
            <a:off x="731520" y="594360"/>
            <a:ext cx="10698480" cy="548640"/>
          </a:xfrm>
          <a:prstGeom prst="rect">
            <a:avLst/>
          </a:prstGeom>
          <a:noFill/>
        </p:spPr>
        <p:txBody>
          <a:bodyPr wrap="square">
            <a:spAutoFit/>
          </a:bodyPr>
          <a:lstStyle/>
          <a:p>
            <a:pPr>
              <a:defRPr sz="2000" b="1">
                <a:solidFill>
                  <a:srgbClr val="16313B"/>
                </a:solidFill>
              </a:defRPr>
            </a:pPr>
            <a:r>
              <a:t>Demand Breakdown: Care Settings &amp; Vulnerable Age Groups</a:t>
            </a:r>
          </a:p>
        </p:txBody>
      </p:sp>
      <p:pic>
        <p:nvPicPr>
          <p:cNvPr id="4" name="Picture 3" descr="age_and_facility_mix.png"/>
          <p:cNvPicPr>
            <a:picLocks noChangeAspect="1"/>
          </p:cNvPicPr>
          <p:nvPr/>
        </p:nvPicPr>
        <p:blipFill>
          <a:blip r:embed="rId2"/>
          <a:stretch>
            <a:fillRect/>
          </a:stretch>
        </p:blipFill>
        <p:spPr>
          <a:xfrm>
            <a:off x="731520" y="1371600"/>
            <a:ext cx="6583680" cy="2485152"/>
          </a:xfrm>
          <a:prstGeom prst="rect">
            <a:avLst/>
          </a:prstGeom>
        </p:spPr>
      </p:pic>
      <p:sp>
        <p:nvSpPr>
          <p:cNvPr id="5" name="TextBox 4"/>
          <p:cNvSpPr txBox="1"/>
          <p:nvPr/>
        </p:nvSpPr>
        <p:spPr>
          <a:xfrm>
            <a:off x="7498079" y="1371600"/>
            <a:ext cx="3931920" cy="4937760"/>
          </a:xfrm>
          <a:prstGeom prst="rect">
            <a:avLst/>
          </a:prstGeom>
          <a:noFill/>
        </p:spPr>
        <p:txBody>
          <a:bodyPr wrap="square">
            <a:spAutoFit/>
          </a:bodyPr>
          <a:lstStyle/>
          <a:p>
            <a:pPr>
              <a:spcAft>
                <a:spcPts val="1000"/>
              </a:spcAft>
              <a:defRPr b="1" sz="1400">
                <a:solidFill>
                  <a:srgbClr val="16313B"/>
                </a:solidFill>
              </a:defRPr>
            </a:pPr>
            <a:r>
              <a:t>Compositional Findings:</a:t>
            </a:r>
          </a:p>
          <a:p>
            <a:pPr>
              <a:spcAft>
                <a:spcPts val="800"/>
              </a:spcAft>
              <a:defRPr b="1" sz="1100">
                <a:solidFill>
                  <a:srgbClr val="16313B"/>
                </a:solidFill>
              </a:defRPr>
            </a:pPr>
            <a:r>
              <a:t>• Primary Care Shock Absorber: </a:t>
            </a:r>
            <a:r>
              <a:rPr b="0">
                <a:solidFill>
                  <a:srgbClr val="53636A"/>
                </a:solidFill>
              </a:rPr>
              <a:t>SAPU, SAR, and SUR facilities handle between 71.08% (2020) and 75.87% (2024) of all recorded respiratory emergencies.</a:t>
            </a:r>
          </a:p>
          <a:p>
            <a:pPr>
              <a:spcAft>
                <a:spcPts val="800"/>
              </a:spcAft>
              <a:defRPr b="1" sz="1100">
                <a:solidFill>
                  <a:srgbClr val="16313B"/>
                </a:solidFill>
              </a:defRPr>
            </a:pPr>
            <a:r>
              <a:t>• Pediatric Share: </a:t>
            </a:r>
            <a:r>
              <a:rPr b="0">
                <a:solidFill>
                  <a:srgbClr val="53636A"/>
                </a:solidFill>
              </a:rPr>
              <a:t>Under-15 visits represented 30.05% of respiratory consultations in 2020, spiking to 50.71% in 2022 with school reopening, and settling at 40.72% in 2024.</a:t>
            </a:r>
          </a:p>
          <a:p>
            <a:pPr>
              <a:spcAft>
                <a:spcPts val="800"/>
              </a:spcAft>
              <a:defRPr b="1" sz="1100">
                <a:solidFill>
                  <a:srgbClr val="16313B"/>
                </a:solidFill>
              </a:defRPr>
            </a:pPr>
            <a:r>
              <a:t>• Older Adult Demand: </a:t>
            </a:r>
            <a:r>
              <a:rPr b="0">
                <a:solidFill>
                  <a:srgbClr val="53636A"/>
                </a:solidFill>
              </a:rPr>
              <a:t>Adults aged 65+ account for ~15-18% of visits, but represent the highest risk of hospitalization and ICU admission.</a:t>
            </a:r>
          </a:p>
          <a:p>
            <a:pPr>
              <a:spcAft>
                <a:spcPts val="800"/>
              </a:spcAft>
              <a:defRPr b="1" sz="1100">
                <a:solidFill>
                  <a:srgbClr val="16313B"/>
                </a:solidFill>
              </a:defRPr>
            </a:pPr>
            <a:r>
              <a:t>• Design Consequence: </a:t>
            </a:r>
            <a:r>
              <a:rPr b="0">
                <a:solidFill>
                  <a:srgbClr val="53636A"/>
                </a:solidFill>
              </a:rPr>
              <a:t>Monitoring cannot look only at hospitals. Primary care triage volume is the earliest and largest indicator of winter network strain.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7667A"/>
                </a:solidFill>
              </a:defRPr>
            </a:pPr>
            <a:r>
              <a:t>BUSINESS INTELLIGENCE IIB423T-1 · CERTAMEN 1</a:t>
            </a:r>
          </a:p>
        </p:txBody>
      </p:sp>
      <p:sp>
        <p:nvSpPr>
          <p:cNvPr id="3" name="TextBox 2"/>
          <p:cNvSpPr txBox="1"/>
          <p:nvPr/>
        </p:nvSpPr>
        <p:spPr>
          <a:xfrm>
            <a:off x="731520" y="594360"/>
            <a:ext cx="10698480" cy="548640"/>
          </a:xfrm>
          <a:prstGeom prst="rect">
            <a:avLst/>
          </a:prstGeom>
          <a:noFill/>
        </p:spPr>
        <p:txBody>
          <a:bodyPr wrap="square">
            <a:spAutoFit/>
          </a:bodyPr>
          <a:lstStyle/>
          <a:p>
            <a:pPr>
              <a:defRPr sz="2000" b="1">
                <a:solidFill>
                  <a:srgbClr val="16313B"/>
                </a:solidFill>
              </a:defRPr>
            </a:pPr>
            <a:r>
              <a:t>Sensitivity Check: Stable 581-Facility Panel</a:t>
            </a:r>
          </a:p>
        </p:txBody>
      </p:sp>
      <p:pic>
        <p:nvPicPr>
          <p:cNvPr id="4" name="Picture 3" descr="common_facility_sensitivity.png"/>
          <p:cNvPicPr>
            <a:picLocks noChangeAspect="1"/>
          </p:cNvPicPr>
          <p:nvPr/>
        </p:nvPicPr>
        <p:blipFill>
          <a:blip r:embed="rId2"/>
          <a:stretch>
            <a:fillRect/>
          </a:stretch>
        </p:blipFill>
        <p:spPr>
          <a:xfrm>
            <a:off x="731520" y="1371600"/>
            <a:ext cx="6583680" cy="3177275"/>
          </a:xfrm>
          <a:prstGeom prst="rect">
            <a:avLst/>
          </a:prstGeom>
        </p:spPr>
      </p:pic>
      <p:sp>
        <p:nvSpPr>
          <p:cNvPr id="5" name="TextBox 4"/>
          <p:cNvSpPr txBox="1"/>
          <p:nvPr/>
        </p:nvSpPr>
        <p:spPr>
          <a:xfrm>
            <a:off x="7498079" y="1371600"/>
            <a:ext cx="3931920" cy="4937760"/>
          </a:xfrm>
          <a:prstGeom prst="rect">
            <a:avLst/>
          </a:prstGeom>
          <a:noFill/>
        </p:spPr>
        <p:txBody>
          <a:bodyPr wrap="square">
            <a:spAutoFit/>
          </a:bodyPr>
          <a:lstStyle/>
          <a:p>
            <a:pPr>
              <a:spcAft>
                <a:spcPts val="1000"/>
              </a:spcAft>
              <a:defRPr b="1" sz="1400">
                <a:solidFill>
                  <a:srgbClr val="16313B"/>
                </a:solidFill>
              </a:defRPr>
            </a:pPr>
            <a:r>
              <a:t>Controlling for Entry/Exit:</a:t>
            </a:r>
          </a:p>
          <a:p>
            <a:pPr>
              <a:spcAft>
                <a:spcPts val="800"/>
              </a:spcAft>
              <a:defRPr b="1" sz="1100">
                <a:solidFill>
                  <a:srgbClr val="16313B"/>
                </a:solidFill>
              </a:defRPr>
            </a:pPr>
            <a:r>
              <a:t>• Compositional Bias Risk: </a:t>
            </a:r>
            <a:r>
              <a:rPr b="0">
                <a:solidFill>
                  <a:srgbClr val="53636A"/>
                </a:solidFill>
              </a:rPr>
              <a:t>Total reporting facilities varied from 607 (2020) to 642 (2023). Did facility entry/exit create the observed respiratory surge?</a:t>
            </a:r>
          </a:p>
          <a:p>
            <a:pPr>
              <a:spcAft>
                <a:spcPts val="800"/>
              </a:spcAft>
              <a:defRPr b="1" sz="1100">
                <a:solidFill>
                  <a:srgbClr val="16313B"/>
                </a:solidFill>
              </a:defRPr>
            </a:pPr>
            <a:r>
              <a:t>• The Stable Panel: </a:t>
            </a:r>
            <a:r>
              <a:rPr b="0">
                <a:solidFill>
                  <a:srgbClr val="53636A"/>
                </a:solidFill>
              </a:rPr>
              <a:t>581 facility IDs reported across ALL five years, covering 98.05% of all emergency visits in 2020 and 95.89% in 2024.</a:t>
            </a:r>
          </a:p>
          <a:p>
            <a:pPr>
              <a:spcAft>
                <a:spcPts val="800"/>
              </a:spcAft>
              <a:defRPr b="1" sz="1100">
                <a:solidFill>
                  <a:srgbClr val="16313B"/>
                </a:solidFill>
              </a:defRPr>
            </a:pPr>
            <a:r>
              <a:t>• Empirical Result: </a:t>
            </a:r>
            <a:r>
              <a:rPr b="0">
                <a:solidFill>
                  <a:srgbClr val="53636A"/>
                </a:solidFill>
              </a:rPr>
              <a:t>Respiratory share in the common-facility panel: 10.73%, 9.97%, 24.62%, 28.86%, 28.37% (virtually identical to full sample).</a:t>
            </a:r>
          </a:p>
          <a:p>
            <a:pPr>
              <a:spcAft>
                <a:spcPts val="800"/>
              </a:spcAft>
              <a:defRPr b="1" sz="1100">
                <a:solidFill>
                  <a:srgbClr val="16313B"/>
                </a:solidFill>
              </a:defRPr>
            </a:pPr>
            <a:r>
              <a:t>• Conclusion: </a:t>
            </a:r>
            <a:r>
              <a:rPr b="0">
                <a:solidFill>
                  <a:srgbClr val="53636A"/>
                </a:solidFill>
              </a:rPr>
              <a:t>The dramatic post-pandemic rebound is a genuine epidemiological and care-seeking reality, not an artifact of reporting panel turnover.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7667A"/>
                </a:solidFill>
              </a:defRPr>
            </a:pPr>
            <a:r>
              <a:t>BUSINESS INTELLIGENCE IIB423T-1 · CERTAMEN 1</a:t>
            </a:r>
          </a:p>
        </p:txBody>
      </p:sp>
      <p:sp>
        <p:nvSpPr>
          <p:cNvPr id="3" name="TextBox 2"/>
          <p:cNvSpPr txBox="1"/>
          <p:nvPr/>
        </p:nvSpPr>
        <p:spPr>
          <a:xfrm>
            <a:off x="731520" y="594360"/>
            <a:ext cx="10698480" cy="548640"/>
          </a:xfrm>
          <a:prstGeom prst="rect">
            <a:avLst/>
          </a:prstGeom>
          <a:noFill/>
        </p:spPr>
        <p:txBody>
          <a:bodyPr wrap="square">
            <a:spAutoFit/>
          </a:bodyPr>
          <a:lstStyle/>
          <a:p>
            <a:pPr>
              <a:defRPr sz="2000" b="1">
                <a:solidFill>
                  <a:srgbClr val="16313B"/>
                </a:solidFill>
              </a:defRPr>
            </a:pPr>
            <a:r>
              <a:t>Project Continuity: Beyond C1 (ML &amp; Dashboard)</a:t>
            </a:r>
          </a:p>
        </p:txBody>
      </p:sp>
      <p:sp>
        <p:nvSpPr>
          <p:cNvPr id="4" name="TextBox 3"/>
          <p:cNvSpPr txBox="1"/>
          <p:nvPr/>
        </p:nvSpPr>
        <p:spPr>
          <a:xfrm>
            <a:off x="731520" y="1371600"/>
            <a:ext cx="10698480" cy="4937760"/>
          </a:xfrm>
          <a:prstGeom prst="rect">
            <a:avLst/>
          </a:prstGeom>
          <a:noFill/>
        </p:spPr>
        <p:txBody>
          <a:bodyPr wrap="square">
            <a:spAutoFit/>
          </a:bodyPr>
          <a:lstStyle/>
          <a:p/>
          <a:p>
            <a:pPr>
              <a:spcAft>
                <a:spcPts val="1000"/>
              </a:spcAft>
              <a:defRPr b="1" sz="1200">
                <a:solidFill>
                  <a:srgbClr val="16313B"/>
                </a:solidFill>
              </a:defRPr>
            </a:pPr>
            <a:r>
              <a:t>•  Future Supervised ML Task: </a:t>
            </a:r>
            <a:r>
              <a:rPr b="0">
                <a:solidFill>
                  <a:srgbClr val="53636A"/>
                </a:solidFill>
              </a:rPr>
              <a:t>Predict weekly respiratory emergency volume 2 completed weeks ahead (t+2) by care setting (SAPU/SAR vs Hospitals).</a:t>
            </a:r>
          </a:p>
          <a:p>
            <a:pPr>
              <a:spcAft>
                <a:spcPts val="1000"/>
              </a:spcAft>
              <a:defRPr b="1" sz="1200">
                <a:solidFill>
                  <a:srgbClr val="16313B"/>
                </a:solidFill>
              </a:defRPr>
            </a:pPr>
            <a:r>
              <a:t>•  Information Boundary &amp; Data Leakage: </a:t>
            </a:r>
            <a:r>
              <a:rPr b="0">
                <a:solidFill>
                  <a:srgbClr val="53636A"/>
                </a:solidFill>
              </a:rPr>
              <a:t>Predictors restricted strictly to information available prior to the forecast week: lagged volume counts, calendar week indicators, and historical seasonal moving averages. No target week counts or post-outcome fields used.</a:t>
            </a:r>
          </a:p>
          <a:p>
            <a:pPr>
              <a:spcAft>
                <a:spcPts val="1000"/>
              </a:spcAft>
              <a:defRPr b="1" sz="1200">
                <a:solidFill>
                  <a:srgbClr val="16313B"/>
                </a:solidFill>
              </a:defRPr>
            </a:pPr>
            <a:r>
              <a:t>•  Honest ML Feasibility Challenges: </a:t>
            </a:r>
            <a:r>
              <a:rPr b="0">
                <a:solidFill>
                  <a:srgbClr val="53636A"/>
                </a:solidFill>
              </a:rPr>
              <a:t>With only 5 annual cycles and a strong regime shift in 2020–2021, standard time-series splits face high variance. Operational deployment requires an automated live feed. (No model trained in C1).</a:t>
            </a:r>
          </a:p>
          <a:p>
            <a:pPr>
              <a:spcAft>
                <a:spcPts val="1000"/>
              </a:spcAft>
              <a:defRPr b="1" sz="1200">
                <a:solidFill>
                  <a:srgbClr val="16313B"/>
                </a:solidFill>
              </a:defRPr>
            </a:pPr>
            <a:r>
              <a:t>•  Future BI Dashboard Prototype: </a:t>
            </a:r>
            <a:r>
              <a:rPr b="0">
                <a:solidFill>
                  <a:srgbClr val="53636A"/>
                </a:solidFill>
              </a:rPr>
              <a:t>Targeted at DIGERA and Health Service emergency coordinators.</a:t>
            </a:r>
          </a:p>
          <a:p>
            <a:pPr>
              <a:spcAft>
                <a:spcPts val="1000"/>
              </a:spcAft>
              <a:defRPr b="1" sz="1200">
                <a:solidFill>
                  <a:srgbClr val="16313B"/>
                </a:solidFill>
              </a:defRPr>
            </a:pPr>
            <a:r>
              <a:t>•  Core Dashboard Views: </a:t>
            </a:r>
            <a:r>
              <a:rPr b="0">
                <a:solidFill>
                  <a:srgbClr val="53636A"/>
                </a:solidFill>
              </a:rPr>
              <a:t>1) Real-time weekly demand curve against 5-year historical confidence bands; 2) Pediatric (&lt;1, 1-4) vs Geriatric (65+) composition; 3) SAPU/SAR absorption ratio; 4) Reporting facility freshness and completeness flags.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7667A"/>
                </a:solidFill>
              </a:defRPr>
            </a:pPr>
            <a:r>
              <a:t>BUSINESS INTELLIGENCE IIB423T-1 · CERTAMEN 1</a:t>
            </a:r>
          </a:p>
        </p:txBody>
      </p:sp>
      <p:sp>
        <p:nvSpPr>
          <p:cNvPr id="3" name="TextBox 2"/>
          <p:cNvSpPr txBox="1"/>
          <p:nvPr/>
        </p:nvSpPr>
        <p:spPr>
          <a:xfrm>
            <a:off x="731520" y="594360"/>
            <a:ext cx="10698480" cy="548640"/>
          </a:xfrm>
          <a:prstGeom prst="rect">
            <a:avLst/>
          </a:prstGeom>
          <a:noFill/>
        </p:spPr>
        <p:txBody>
          <a:bodyPr wrap="square">
            <a:spAutoFit/>
          </a:bodyPr>
          <a:lstStyle/>
          <a:p>
            <a:pPr>
              <a:defRPr sz="2000" b="1">
                <a:solidFill>
                  <a:srgbClr val="16313B"/>
                </a:solidFill>
              </a:defRPr>
            </a:pPr>
            <a:r>
              <a:t>Summary &amp; Individual Defense Anchors (Q&amp;A)</a:t>
            </a:r>
          </a:p>
        </p:txBody>
      </p:sp>
      <p:sp>
        <p:nvSpPr>
          <p:cNvPr id="4" name="TextBox 3"/>
          <p:cNvSpPr txBox="1"/>
          <p:nvPr/>
        </p:nvSpPr>
        <p:spPr>
          <a:xfrm>
            <a:off x="731520" y="1371600"/>
            <a:ext cx="10698480" cy="4937760"/>
          </a:xfrm>
          <a:prstGeom prst="rect">
            <a:avLst/>
          </a:prstGeom>
          <a:noFill/>
        </p:spPr>
        <p:txBody>
          <a:bodyPr wrap="square">
            <a:spAutoFit/>
          </a:bodyPr>
          <a:lstStyle/>
          <a:p/>
          <a:p>
            <a:pPr>
              <a:spcAft>
                <a:spcPts val="1200"/>
              </a:spcAft>
              <a:defRPr b="1" sz="1250">
                <a:solidFill>
                  <a:srgbClr val="16313B"/>
                </a:solidFill>
              </a:defRPr>
            </a:pPr>
            <a:r>
              <a:t>•  What This Analysis Demonstrates (F): </a:t>
            </a:r>
            <a:r>
              <a:rPr b="0">
                <a:solidFill>
                  <a:srgbClr val="53636A"/>
                </a:solidFill>
              </a:rPr>
              <a:t>Defensible, auditable 5-year retrospective characterization of respiratory emergency demand, peak timing (May), age co-movement, and care-setting coupling in Chile.</a:t>
            </a:r>
          </a:p>
          <a:p>
            <a:pPr>
              <a:spcAft>
                <a:spcPts val="1200"/>
              </a:spcAft>
              <a:defRPr b="1" sz="1250">
                <a:solidFill>
                  <a:srgbClr val="16313B"/>
                </a:solidFill>
              </a:defRPr>
            </a:pPr>
            <a:r>
              <a:t>•  What This Analysis Cannot Claim (H): </a:t>
            </a:r>
            <a:r>
              <a:rPr b="0">
                <a:solidFill>
                  <a:srgbClr val="53636A"/>
                </a:solidFill>
              </a:rPr>
              <a:t>Does not estimate individual patient risk, true disease incidence, bed occupancy rates, triage wait times, or causal impacts of health campaigns.</a:t>
            </a:r>
          </a:p>
          <a:p>
            <a:pPr>
              <a:spcAft>
                <a:spcPts val="1200"/>
              </a:spcAft>
              <a:defRPr b="1" sz="1250">
                <a:solidFill>
                  <a:srgbClr val="16313B"/>
                </a:solidFill>
              </a:defRPr>
            </a:pPr>
            <a:r>
              <a:t>•  Benjamín Pinto — Methodological Lead (G): </a:t>
            </a:r>
            <a:r>
              <a:rPr b="0">
                <a:solidFill>
                  <a:srgbClr val="53636A"/>
                </a:solidFill>
              </a:rPr>
              <a:t>Processing 2.17M rows; 5 Cs quality audit; duplicate key resolution; date-derived Sunday week starts; statistical correlation analysis (Pearson vs Spearman); parametric vs nonparametric density.</a:t>
            </a:r>
          </a:p>
          <a:p>
            <a:pPr>
              <a:spcAft>
                <a:spcPts val="1200"/>
              </a:spcAft>
              <a:defRPr b="1" sz="1250">
                <a:solidFill>
                  <a:srgbClr val="16313B"/>
                </a:solidFill>
              </a:defRPr>
            </a:pPr>
            <a:r>
              <a:t>•  Sebastián Herrera — Selection &amp; Sensitivity Lead (G): </a:t>
            </a:r>
            <a:r>
              <a:rPr b="0">
                <a:solidFill>
                  <a:srgbClr val="53636A"/>
                </a:solidFill>
              </a:rPr>
              <a:t>Candidate B deselection audit (REM-P2 coverage collapse in June 2020); 581 common-facility panel sensitivity; care-setting breakdown (SAPU vs Hospital); dashboard design &amp; operational framing.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